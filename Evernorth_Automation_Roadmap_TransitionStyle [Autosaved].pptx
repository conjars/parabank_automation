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65" r:id="rId2"/>
    <p:sldId id="257" r:id="rId3"/>
    <p:sldId id="262" r:id="rId4"/>
    <p:sldId id="263" r:id="rId5"/>
    <p:sldId id="264" r:id="rId6"/>
    <p:sldId id="258" r:id="rId7"/>
    <p:sldId id="259" r:id="rId8"/>
    <p:sldId id="260" r:id="rId9"/>
    <p:sldId id="261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138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1574296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447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00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953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484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138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981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85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516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220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1505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0826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4530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8854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4671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4722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611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683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96645-7128-1733-8592-402103E29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F2E3C-17A0-B00F-5504-E513F3963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4" y="457201"/>
            <a:ext cx="7433898" cy="1034248"/>
          </a:xfrm>
        </p:spPr>
        <p:txBody>
          <a:bodyPr>
            <a:normAutofit fontScale="90000"/>
          </a:bodyPr>
          <a:lstStyle/>
          <a:p>
            <a:r>
              <a:rPr dirty="0"/>
              <a:t>1. Automation Planning &amp; Setup (Weeks 1–2)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35476-3C0A-965E-0176-8ED09B99E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3379" y="1491449"/>
            <a:ext cx="8211844" cy="51401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4000" b="1" dirty="0"/>
              <a:t>Objective</a:t>
            </a:r>
            <a:r>
              <a:rPr lang="en-IN" sz="3400" b="1" dirty="0"/>
              <a:t>: </a:t>
            </a:r>
            <a:r>
              <a:rPr lang="en-US" sz="2000" dirty="0"/>
              <a:t>Enhance the existing Selenium + Java framework by integrating AI-driven capabilities (Copilot, Locator Healing, and Reusability Enhancements) to strengthen automation scalability and maintainability.</a:t>
            </a:r>
          </a:p>
          <a:p>
            <a:pPr marL="0" indent="0">
              <a:buNone/>
            </a:pPr>
            <a:r>
              <a:rPr lang="en-IN" sz="3400" b="1" dirty="0"/>
              <a:t>Activities:</a:t>
            </a:r>
          </a:p>
          <a:p>
            <a:r>
              <a:rPr lang="en-US" sz="1600" dirty="0"/>
              <a:t>Conduct </a:t>
            </a:r>
            <a:r>
              <a:rPr lang="en-US" sz="1600" b="1" dirty="0"/>
              <a:t>kick-off meeting</a:t>
            </a:r>
            <a:r>
              <a:rPr lang="en-US" sz="1600" dirty="0"/>
              <a:t> to define enhancement scope, AI adoption plan, and success metrics.</a:t>
            </a:r>
          </a:p>
          <a:p>
            <a:r>
              <a:rPr lang="en-US" sz="1600" dirty="0"/>
              <a:t>Review existing framework components and </a:t>
            </a:r>
            <a:r>
              <a:rPr lang="en-US" sz="1600" b="1" dirty="0"/>
              <a:t>identify improvement areas</a:t>
            </a:r>
            <a:r>
              <a:rPr lang="en-US" sz="1600" dirty="0"/>
              <a:t> for reusability and self-healing.</a:t>
            </a:r>
          </a:p>
          <a:p>
            <a:r>
              <a:rPr lang="en-US" sz="1600" dirty="0"/>
              <a:t>Integrate </a:t>
            </a:r>
            <a:r>
              <a:rPr lang="en-US" sz="1600" b="1" dirty="0"/>
              <a:t>Copilot-assisted code generation</a:t>
            </a:r>
            <a:r>
              <a:rPr lang="en-US" sz="1600" dirty="0"/>
              <a:t> for faster utility updates.</a:t>
            </a:r>
          </a:p>
          <a:p>
            <a:r>
              <a:rPr lang="en-US" sz="1600" dirty="0"/>
              <a:t>Enhance framework with </a:t>
            </a:r>
            <a:r>
              <a:rPr lang="en-US" sz="1600" b="1" dirty="0"/>
              <a:t>AI-based locator healing</a:t>
            </a:r>
            <a:r>
              <a:rPr lang="en-US" sz="1600" dirty="0"/>
              <a:t> and </a:t>
            </a:r>
            <a:r>
              <a:rPr lang="en-US" sz="1600" b="1" dirty="0"/>
              <a:t>dynamic element handling</a:t>
            </a:r>
            <a:r>
              <a:rPr lang="en-US" sz="1600" dirty="0"/>
              <a:t>.</a:t>
            </a:r>
          </a:p>
          <a:p>
            <a:r>
              <a:rPr lang="en-US" sz="1600" dirty="0"/>
              <a:t>Refactor reusable utilities (login, navigation, validation) to align with new standards.</a:t>
            </a:r>
          </a:p>
          <a:p>
            <a:r>
              <a:rPr lang="en-US" sz="1600" dirty="0"/>
              <a:t>Configure </a:t>
            </a:r>
            <a:r>
              <a:rPr lang="en-US" sz="1600" b="1" dirty="0"/>
              <a:t>CI/CD pipeline updates</a:t>
            </a:r>
            <a:r>
              <a:rPr lang="en-US" sz="1600" dirty="0"/>
              <a:t> for automated validation and report tracking.</a:t>
            </a:r>
          </a:p>
          <a:p>
            <a:endParaRPr lang="en-US" sz="1600" dirty="0"/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25240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2. Sprint 1 &amp; 2 – High Priority Automation (Weeks 3–6)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sz="3600" b="1" dirty="0"/>
              <a:t>Objective</a:t>
            </a:r>
            <a:r>
              <a:rPr dirty="0"/>
              <a:t>: Automate critical high</a:t>
            </a:r>
            <a:r>
              <a:rPr lang="en-US" dirty="0"/>
              <a:t> </a:t>
            </a:r>
            <a:r>
              <a:rPr dirty="0"/>
              <a:t>priority regression test cases with reusable components.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sz="3100" b="1" dirty="0"/>
              <a:t>Activities</a:t>
            </a:r>
            <a:r>
              <a:rPr dirty="0"/>
              <a:t>:</a:t>
            </a:r>
          </a:p>
          <a:p>
            <a:r>
              <a:rPr dirty="0"/>
              <a:t> Automate 150 high</a:t>
            </a:r>
            <a:r>
              <a:rPr lang="en-US" dirty="0"/>
              <a:t> </a:t>
            </a:r>
            <a:r>
              <a:rPr dirty="0"/>
              <a:t>priority test cases with average 6 </a:t>
            </a:r>
            <a:r>
              <a:rPr lang="en-US" dirty="0" err="1"/>
              <a:t>H</a:t>
            </a:r>
            <a:r>
              <a:rPr dirty="0" err="1"/>
              <a:t>rs</a:t>
            </a:r>
            <a:r>
              <a:rPr dirty="0"/>
              <a:t> effort per case.</a:t>
            </a:r>
          </a:p>
          <a:p>
            <a:r>
              <a:rPr lang="en-US" dirty="0"/>
              <a:t> </a:t>
            </a:r>
            <a:r>
              <a:rPr dirty="0"/>
              <a:t>Integrate Copilot for assisted coding to reduce manual effort by 25–30%.</a:t>
            </a:r>
          </a:p>
          <a:p>
            <a:r>
              <a:rPr dirty="0"/>
              <a:t> Conduct daily standups to discuss blockers and progress.</a:t>
            </a:r>
          </a:p>
          <a:p>
            <a:r>
              <a:rPr dirty="0"/>
              <a:t> Perform code reviews and validations with manual QA team.</a:t>
            </a:r>
          </a:p>
          <a:p>
            <a:r>
              <a:rPr dirty="0"/>
              <a:t> Execute scripts via CI/CD and track results in Allure/Extent Reports.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69F74-85E8-D29C-143B-6DF8C9711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334A0-EA8F-2892-786C-E48BB8A31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8" cy="1140780"/>
          </a:xfrm>
        </p:spPr>
        <p:txBody>
          <a:bodyPr>
            <a:normAutofit fontScale="90000"/>
          </a:bodyPr>
          <a:lstStyle/>
          <a:p>
            <a:r>
              <a:rPr lang="en-US" dirty="0"/>
              <a:t>Planned High Priority KPIs &amp; Sub-KPIs – Sprint 1 &amp; 2 (Weeks 3–6)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D22B35-1EF0-0837-F939-2097BD3896D5}"/>
              </a:ext>
            </a:extLst>
          </p:cNvPr>
          <p:cNvSpPr txBox="1"/>
          <p:nvPr/>
        </p:nvSpPr>
        <p:spPr>
          <a:xfrm>
            <a:off x="751844" y="2175029"/>
            <a:ext cx="8179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Goal:</a:t>
            </a:r>
            <a:r>
              <a:rPr lang="en-US" dirty="0"/>
              <a:t> Plan and automate </a:t>
            </a:r>
            <a:r>
              <a:rPr lang="en-US" b="1" dirty="0"/>
              <a:t>150 high-priority regression test cases</a:t>
            </a:r>
            <a:r>
              <a:rPr lang="en-US" dirty="0"/>
              <a:t> within this sprint to establish a strong reusable automation foundation</a:t>
            </a: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3714FBA-B29D-C663-9BBB-5874ABC2A0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7615673"/>
              </p:ext>
            </p:extLst>
          </p:nvPr>
        </p:nvGraphicFramePr>
        <p:xfrm>
          <a:off x="982663" y="2882741"/>
          <a:ext cx="7704138" cy="292608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568046">
                  <a:extLst>
                    <a:ext uri="{9D8B030D-6E8A-4147-A177-3AD203B41FA5}">
                      <a16:colId xmlns:a16="http://schemas.microsoft.com/office/drawing/2014/main" val="870910683"/>
                    </a:ext>
                  </a:extLst>
                </a:gridCol>
                <a:gridCol w="2568046">
                  <a:extLst>
                    <a:ext uri="{9D8B030D-6E8A-4147-A177-3AD203B41FA5}">
                      <a16:colId xmlns:a16="http://schemas.microsoft.com/office/drawing/2014/main" val="1588665015"/>
                    </a:ext>
                  </a:extLst>
                </a:gridCol>
                <a:gridCol w="2568046">
                  <a:extLst>
                    <a:ext uri="{9D8B030D-6E8A-4147-A177-3AD203B41FA5}">
                      <a16:colId xmlns:a16="http://schemas.microsoft.com/office/drawing/2014/main" val="34903525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KPI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Target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How We’ll Achieve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134534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% of Test Cases Automated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100 % (150 TCs)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Weekly backlog + daily stand-ups + Jira tracking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83484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Avg. Automation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≤ 6 hrs per TC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Reusable components + Copilot support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790571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CI/CD Execution Success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≥ 95 % Pass Rate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Early integration + pipeline validation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455231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QA Validation Coverage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100 % reviewed by manual QA</a:t>
                      </a:r>
                      <a:endParaRPr lang="en-US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Parallel execution and sign-off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19556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5511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B26AA-0B7D-B300-D61D-32B1E3812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0C07F-FD27-6974-A78F-28FE27F8C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2" y="457200"/>
            <a:ext cx="6892361" cy="1344967"/>
          </a:xfrm>
        </p:spPr>
        <p:txBody>
          <a:bodyPr>
            <a:normAutofit/>
          </a:bodyPr>
          <a:lstStyle/>
          <a:p>
            <a:r>
              <a:rPr lang="en-IN" dirty="0"/>
              <a:t>AI Assistance Efficiency (Copilot Impact)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284D9F-C3B9-0CFB-6281-CBCD825F9840}"/>
              </a:ext>
            </a:extLst>
          </p:cNvPr>
          <p:cNvSpPr txBox="1"/>
          <p:nvPr/>
        </p:nvSpPr>
        <p:spPr>
          <a:xfrm>
            <a:off x="982664" y="2175029"/>
            <a:ext cx="7069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Goal:</a:t>
            </a:r>
            <a:r>
              <a:rPr lang="en-US" dirty="0"/>
              <a:t> Reduce manual effort by 25–30 %.</a:t>
            </a: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847371C-288A-4099-A541-C81C71C5FA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2911829"/>
              </p:ext>
            </p:extLst>
          </p:nvPr>
        </p:nvGraphicFramePr>
        <p:xfrm>
          <a:off x="982663" y="3065621"/>
          <a:ext cx="7704138" cy="256032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568046">
                  <a:extLst>
                    <a:ext uri="{9D8B030D-6E8A-4147-A177-3AD203B41FA5}">
                      <a16:colId xmlns:a16="http://schemas.microsoft.com/office/drawing/2014/main" val="1544053489"/>
                    </a:ext>
                  </a:extLst>
                </a:gridCol>
                <a:gridCol w="2568046">
                  <a:extLst>
                    <a:ext uri="{9D8B030D-6E8A-4147-A177-3AD203B41FA5}">
                      <a16:colId xmlns:a16="http://schemas.microsoft.com/office/drawing/2014/main" val="3827430781"/>
                    </a:ext>
                  </a:extLst>
                </a:gridCol>
                <a:gridCol w="2568046">
                  <a:extLst>
                    <a:ext uri="{9D8B030D-6E8A-4147-A177-3AD203B41FA5}">
                      <a16:colId xmlns:a16="http://schemas.microsoft.com/office/drawing/2014/main" val="15966806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Sub-KPI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Target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Achievement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198177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Copilot-generated code snippets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30 % target → achieved 28 %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Used Copilot for boilerplate and XPath utilities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856028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Manual rework reduction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Target 20 % → achieved 22 %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Peer review + auto linting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045129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Time saved per test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Target 1.5 hrs saved → achieved 1.6 hrs</a:t>
                      </a:r>
                      <a:endParaRPr lang="en-US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Reduced debug time via AI hints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74701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5129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693C4-1E8B-461B-39AD-4C665B06B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99AB2-8060-3F56-1714-BC85D8261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457200"/>
            <a:ext cx="7238590" cy="2092103"/>
          </a:xfrm>
        </p:spPr>
        <p:txBody>
          <a:bodyPr>
            <a:normAutofit/>
          </a:bodyPr>
          <a:lstStyle/>
          <a:p>
            <a:r>
              <a:rPr lang="en-IN" dirty="0"/>
              <a:t>Collaboration &amp; Delivery Cadence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0DA35D-2BC3-4D5D-637F-BA55C8A3E50A}"/>
              </a:ext>
            </a:extLst>
          </p:cNvPr>
          <p:cNvSpPr txBox="1"/>
          <p:nvPr/>
        </p:nvSpPr>
        <p:spPr>
          <a:xfrm>
            <a:off x="822866" y="2179971"/>
            <a:ext cx="7069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  Goal:</a:t>
            </a:r>
            <a:r>
              <a:rPr lang="en-US" dirty="0"/>
              <a:t> Maintain team alignment and timely delivery.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75AC640-DE2D-D2B3-63DA-0058E7E3C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5830253"/>
              </p:ext>
            </p:extLst>
          </p:nvPr>
        </p:nvGraphicFramePr>
        <p:xfrm>
          <a:off x="982663" y="3202781"/>
          <a:ext cx="7704138" cy="22860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568046">
                  <a:extLst>
                    <a:ext uri="{9D8B030D-6E8A-4147-A177-3AD203B41FA5}">
                      <a16:colId xmlns:a16="http://schemas.microsoft.com/office/drawing/2014/main" val="3631811792"/>
                    </a:ext>
                  </a:extLst>
                </a:gridCol>
                <a:gridCol w="2568046">
                  <a:extLst>
                    <a:ext uri="{9D8B030D-6E8A-4147-A177-3AD203B41FA5}">
                      <a16:colId xmlns:a16="http://schemas.microsoft.com/office/drawing/2014/main" val="3385781846"/>
                    </a:ext>
                  </a:extLst>
                </a:gridCol>
                <a:gridCol w="2568046">
                  <a:extLst>
                    <a:ext uri="{9D8B030D-6E8A-4147-A177-3AD203B41FA5}">
                      <a16:colId xmlns:a16="http://schemas.microsoft.com/office/drawing/2014/main" val="387108723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Sub-KPI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Target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Achievement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282664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Daily stand-up attendance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100 % → achieved 98 %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Used Teams &amp; Jira updates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670840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Blocker resolution within 24 hrs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90 % → achieved 92 %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Assigned dedicated review owner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8737759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Sprint burn-down completion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≥ 90 % → achieved 94 %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Bi-weekly progress review calls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53625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5800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3. Sprint 3 &amp; 4 – Medium Priority Automation (Weeks 7–10)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sz="4000" b="1" dirty="0"/>
              <a:t>Objective</a:t>
            </a:r>
            <a:r>
              <a:rPr dirty="0"/>
              <a:t>: Focus on core functional flows with stable automation coverage.</a:t>
            </a:r>
          </a:p>
          <a:p>
            <a:endParaRPr dirty="0"/>
          </a:p>
          <a:p>
            <a:pPr marL="0" indent="0">
              <a:buNone/>
            </a:pPr>
            <a:r>
              <a:rPr lang="en-US" dirty="0"/>
              <a:t>]</a:t>
            </a:r>
            <a:r>
              <a:rPr sz="2900" b="1" dirty="0"/>
              <a:t>Activities</a:t>
            </a:r>
            <a:r>
              <a:rPr dirty="0"/>
              <a:t>:</a:t>
            </a:r>
          </a:p>
          <a:p>
            <a:r>
              <a:rPr dirty="0"/>
              <a:t> Automate 200 medium</a:t>
            </a:r>
            <a:r>
              <a:rPr lang="en-US" dirty="0"/>
              <a:t> </a:t>
            </a:r>
            <a:r>
              <a:rPr dirty="0"/>
              <a:t>priority scenarios (average </a:t>
            </a:r>
            <a:r>
              <a:rPr lang="en-US" dirty="0"/>
              <a:t>5</a:t>
            </a:r>
            <a:r>
              <a:rPr dirty="0"/>
              <a:t> </a:t>
            </a:r>
            <a:r>
              <a:rPr lang="en-US" dirty="0" err="1"/>
              <a:t>H</a:t>
            </a:r>
            <a:r>
              <a:rPr dirty="0" err="1"/>
              <a:t>rs</a:t>
            </a:r>
            <a:r>
              <a:rPr dirty="0"/>
              <a:t> per case).</a:t>
            </a:r>
          </a:p>
          <a:p>
            <a:r>
              <a:rPr dirty="0"/>
              <a:t> Enhance reusable components for data</a:t>
            </a:r>
            <a:r>
              <a:rPr lang="en-US" dirty="0"/>
              <a:t> </a:t>
            </a:r>
            <a:r>
              <a:rPr dirty="0"/>
              <a:t>driven and key</a:t>
            </a:r>
            <a:r>
              <a:rPr lang="en-US" dirty="0"/>
              <a:t> </a:t>
            </a:r>
            <a:r>
              <a:rPr dirty="0"/>
              <a:t>word</a:t>
            </a:r>
            <a:r>
              <a:rPr lang="en-US" dirty="0"/>
              <a:t> </a:t>
            </a:r>
            <a:r>
              <a:rPr dirty="0"/>
              <a:t>based testing.</a:t>
            </a:r>
          </a:p>
          <a:p>
            <a:r>
              <a:rPr dirty="0"/>
              <a:t> Validate automated scripts through peer reviews and manual signoffs.</a:t>
            </a:r>
          </a:p>
          <a:p>
            <a:r>
              <a:rPr dirty="0"/>
              <a:t> Execute automated suites in pipeline for continuous validation.</a:t>
            </a:r>
          </a:p>
          <a:p>
            <a:r>
              <a:rPr dirty="0"/>
              <a:t> Optimize code for speed, maintainability, and error handling.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4. Sprint 5 – Low Priority &amp; Regression Suite Stabilization (Weeks 11–12)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sz="3600" b="1" dirty="0"/>
              <a:t>Objective</a:t>
            </a:r>
            <a:r>
              <a:rPr dirty="0"/>
              <a:t>: Automate remaining low</a:t>
            </a:r>
            <a:r>
              <a:rPr lang="en-US" dirty="0"/>
              <a:t> </a:t>
            </a:r>
            <a:r>
              <a:rPr dirty="0"/>
              <a:t>priority and peripheral modules; stabilize the full regression suite.</a:t>
            </a:r>
          </a:p>
          <a:p>
            <a:endParaRPr dirty="0"/>
          </a:p>
          <a:p>
            <a:pPr marL="0" indent="0">
              <a:buNone/>
            </a:pPr>
            <a:r>
              <a:rPr sz="2600" b="1" dirty="0"/>
              <a:t>Activities</a:t>
            </a:r>
            <a:r>
              <a:rPr dirty="0"/>
              <a:t>:</a:t>
            </a:r>
          </a:p>
          <a:p>
            <a:r>
              <a:rPr dirty="0"/>
              <a:t> Automate 150 low</a:t>
            </a:r>
            <a:r>
              <a:rPr lang="en-US" dirty="0"/>
              <a:t> </a:t>
            </a:r>
            <a:r>
              <a:rPr dirty="0"/>
              <a:t>priority test cases (average 2 </a:t>
            </a:r>
            <a:r>
              <a:rPr dirty="0" err="1"/>
              <a:t>hrs</a:t>
            </a:r>
            <a:r>
              <a:rPr dirty="0"/>
              <a:t> per case).</a:t>
            </a:r>
          </a:p>
          <a:p>
            <a:r>
              <a:rPr dirty="0"/>
              <a:t> Combine all test cases into a unified regression suite.</a:t>
            </a:r>
          </a:p>
          <a:p>
            <a:r>
              <a:rPr dirty="0"/>
              <a:t> Ensure scripts are compatible across all environments (QA/UAT).</a:t>
            </a:r>
          </a:p>
          <a:p>
            <a:r>
              <a:rPr dirty="0"/>
              <a:t> Run nightly builds to check stability of test execution.</a:t>
            </a:r>
          </a:p>
          <a:p>
            <a:r>
              <a:rPr dirty="0"/>
              <a:t> Monitor reports and track any flaky test cases.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5. CI/CD Integration, Review &amp; Final Handover (Weeks 13–14)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sz="4000" b="1" dirty="0"/>
              <a:t>Objective</a:t>
            </a:r>
            <a:r>
              <a:rPr dirty="0"/>
              <a:t>: Integrate final automation suite into CI/CD pipelines and conduct reviews before handover.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sz="4000" b="1" dirty="0"/>
              <a:t>Activities:</a:t>
            </a:r>
          </a:p>
          <a:p>
            <a:r>
              <a:rPr dirty="0"/>
              <a:t> Set up Jenkins or GitHub Actions for scheduled automation runs.</a:t>
            </a:r>
          </a:p>
          <a:p>
            <a:r>
              <a:rPr dirty="0"/>
              <a:t> Validate execution and reporting accuracy through dashboards.</a:t>
            </a:r>
          </a:p>
          <a:p>
            <a:r>
              <a:rPr dirty="0"/>
              <a:t> Conduct final sprint review, rework any failed test cases.</a:t>
            </a:r>
          </a:p>
          <a:p>
            <a:r>
              <a:rPr dirty="0"/>
              <a:t> Prepare final automation summary and KT document for maintenance team.</a:t>
            </a:r>
          </a:p>
          <a:p>
            <a:r>
              <a:rPr dirty="0"/>
              <a:t> Organize handover and signoff meeting with stakeholders.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Summary – 3Month Automation Roadmap (</a:t>
            </a:r>
            <a:r>
              <a:rPr lang="en-US" dirty="0"/>
              <a:t>ATK Project</a:t>
            </a:r>
            <a:r>
              <a:rPr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sz="3300" b="1" dirty="0"/>
              <a:t>Objective</a:t>
            </a:r>
            <a:r>
              <a:rPr dirty="0"/>
              <a:t>: Deliver end</a:t>
            </a:r>
            <a:r>
              <a:rPr lang="en-US" dirty="0"/>
              <a:t> </a:t>
            </a:r>
            <a:r>
              <a:rPr dirty="0"/>
              <a:t>to</a:t>
            </a:r>
            <a:r>
              <a:rPr lang="en-US" dirty="0"/>
              <a:t> </a:t>
            </a:r>
            <a:r>
              <a:rPr dirty="0"/>
              <a:t>end automation suite within 3 months using </a:t>
            </a:r>
            <a:r>
              <a:rPr lang="en-US" dirty="0"/>
              <a:t>BDD</a:t>
            </a:r>
            <a:r>
              <a:rPr dirty="0"/>
              <a:t> framework and reusable assets.</a:t>
            </a:r>
          </a:p>
          <a:p>
            <a:endParaRPr dirty="0"/>
          </a:p>
          <a:p>
            <a:pPr marL="0" indent="0">
              <a:buNone/>
            </a:pPr>
            <a:r>
              <a:rPr sz="3100" b="1" dirty="0"/>
              <a:t>Activities</a:t>
            </a:r>
            <a:r>
              <a:rPr dirty="0"/>
              <a:t>:</a:t>
            </a:r>
          </a:p>
          <a:p>
            <a:r>
              <a:rPr dirty="0"/>
              <a:t> Total Test Cases: 500 (High: 150, Medium: 200, Low: 150)</a:t>
            </a:r>
          </a:p>
          <a:p>
            <a:r>
              <a:rPr dirty="0"/>
              <a:t> Team: 4 Members (2 Fulltime, 2 Parttime)</a:t>
            </a:r>
          </a:p>
          <a:p>
            <a:r>
              <a:rPr dirty="0"/>
              <a:t> Framework: Selenium + Java + CI/CD + Copilot</a:t>
            </a:r>
          </a:p>
          <a:p>
            <a:r>
              <a:rPr dirty="0"/>
              <a:t> Duration: 14 Weeks (~3 Months)</a:t>
            </a:r>
          </a:p>
          <a:p>
            <a:r>
              <a:rPr dirty="0"/>
              <a:t> Productivity Gain: ~35% with AI Copilot and Reusability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190</TotalTime>
  <Words>809</Words>
  <Application>Microsoft Office PowerPoint</Application>
  <PresentationFormat>On-screen Show (4:3)</PresentationFormat>
  <Paragraphs>99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Corbel</vt:lpstr>
      <vt:lpstr>Parallax</vt:lpstr>
      <vt:lpstr>1. Automation Planning &amp; Setup (Weeks 1–2)</vt:lpstr>
      <vt:lpstr>2. Sprint 1 &amp; 2 – High Priority Automation (Weeks 3–6)</vt:lpstr>
      <vt:lpstr>Planned High Priority KPIs &amp; Sub-KPIs – Sprint 1 &amp; 2 (Weeks 3–6)</vt:lpstr>
      <vt:lpstr>AI Assistance Efficiency (Copilot Impact)</vt:lpstr>
      <vt:lpstr>Collaboration &amp; Delivery Cadence</vt:lpstr>
      <vt:lpstr>3. Sprint 3 &amp; 4 – Medium Priority Automation (Weeks 7–10)</vt:lpstr>
      <vt:lpstr>4. Sprint 5 – Low Priority &amp; Regression Suite Stabilization (Weeks 11–12)</vt:lpstr>
      <vt:lpstr>5. CI/CD Integration, Review &amp; Final Handover (Weeks 13–14)</vt:lpstr>
      <vt:lpstr>Summary – 3Month Automation Roadmap (ATK Project)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janaranjan sahoo</dc:creator>
  <cp:keywords/>
  <dc:description>generated using python-pptx</dc:description>
  <cp:lastModifiedBy>janaranjan sahoo</cp:lastModifiedBy>
  <cp:revision>8</cp:revision>
  <dcterms:created xsi:type="dcterms:W3CDTF">2013-01-27T09:14:16Z</dcterms:created>
  <dcterms:modified xsi:type="dcterms:W3CDTF">2025-11-02T06:42:04Z</dcterms:modified>
  <cp:category/>
</cp:coreProperties>
</file>